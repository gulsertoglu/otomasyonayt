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0" roundtripDataSignature="AMtx7miAVSzJsOljuhJC/l/cZWgWpIwK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 name="Google Shape;7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4" name="Google Shape;13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tr"/>
              <a:t>AYT Üçüncü Hafta Sunumu</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fontScale="55000" lnSpcReduction="20000"/>
          </a:bodyPr>
          <a:lstStyle/>
          <a:p>
            <a:pPr indent="0" lvl="0" marL="0" rtl="0" algn="ctr">
              <a:lnSpc>
                <a:spcPct val="100000"/>
              </a:lnSpc>
              <a:spcBef>
                <a:spcPts val="0"/>
              </a:spcBef>
              <a:spcAft>
                <a:spcPts val="0"/>
              </a:spcAft>
              <a:buSzPct val="181818"/>
              <a:buNone/>
            </a:pPr>
            <a:r>
              <a:rPr lang="tr"/>
              <a:t>-GitHub Reposu Nasıl Açılır?</a:t>
            </a:r>
            <a:endParaRPr/>
          </a:p>
          <a:p>
            <a:pPr indent="0" lvl="0" marL="0" rtl="0" algn="ctr">
              <a:lnSpc>
                <a:spcPct val="100000"/>
              </a:lnSpc>
              <a:spcBef>
                <a:spcPts val="0"/>
              </a:spcBef>
              <a:spcAft>
                <a:spcPts val="0"/>
              </a:spcAft>
              <a:buSzPct val="181818"/>
              <a:buNone/>
            </a:pPr>
            <a:r>
              <a:rPr lang="tr"/>
              <a:t>-Jupiter Notebook Nedir/Nasıl Kullanılır?</a:t>
            </a:r>
            <a:endParaRPr/>
          </a:p>
          <a:p>
            <a:pPr indent="0" lvl="0" marL="0" rtl="0" algn="ctr">
              <a:lnSpc>
                <a:spcPct val="100000"/>
              </a:lnSpc>
              <a:spcBef>
                <a:spcPts val="0"/>
              </a:spcBef>
              <a:spcAft>
                <a:spcPts val="0"/>
              </a:spcAft>
              <a:buSzPct val="181818"/>
              <a:buNone/>
            </a:pPr>
            <a:r>
              <a:rPr lang="tr"/>
              <a:t>-Proje Konusu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tr">
                <a:solidFill>
                  <a:srgbClr val="FF0000"/>
                </a:solidFill>
              </a:rPr>
              <a:t>GitHub Nedir?</a:t>
            </a:r>
            <a:endParaRPr>
              <a:solidFill>
                <a:srgbClr val="FF0000"/>
              </a:solidFill>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tr"/>
              <a:t>GitHub, yazılım geliştiricilerin projelerini internet üzerinde depoladığı, yönettiği ve üzerinde birlikte çalıştığı web tabanlı bir platformdur. Kod değişikliklerini adım adım takip etmeyi (sürüm kontrolü) ve ekip çalışmasını organize etmeyi sağlar. Milyonlarca açık kaynaklı projeye ev sahipliği yapmasıyla da bilinir.</a:t>
            </a:r>
            <a:endParaRPr/>
          </a:p>
          <a:p>
            <a:pPr indent="0" lvl="0" marL="0" rtl="0" algn="l">
              <a:lnSpc>
                <a:spcPct val="115000"/>
              </a:lnSpc>
              <a:spcBef>
                <a:spcPts val="1200"/>
              </a:spcBef>
              <a:spcAft>
                <a:spcPts val="1200"/>
              </a:spcAft>
              <a:buSzPts val="1800"/>
              <a:buNone/>
            </a:pPr>
            <a:r>
              <a:t/>
            </a:r>
            <a:endParaRPr/>
          </a:p>
        </p:txBody>
      </p:sp>
      <p:pic>
        <p:nvPicPr>
          <p:cNvPr id="62" name="Google Shape;62;p2" title="github-logo-git-hub-icon-with-text-on-white-background-free-vector.jpg"/>
          <p:cNvPicPr preferRelativeResize="0"/>
          <p:nvPr/>
        </p:nvPicPr>
        <p:blipFill rotWithShape="1">
          <a:blip r:embed="rId3">
            <a:alphaModFix/>
          </a:blip>
          <a:srcRect b="0" l="0" r="0" t="0"/>
          <a:stretch/>
        </p:blipFill>
        <p:spPr>
          <a:xfrm>
            <a:off x="311700" y="2666150"/>
            <a:ext cx="3674198" cy="16545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tr">
                <a:solidFill>
                  <a:srgbClr val="FF0000"/>
                </a:solidFill>
              </a:rPr>
              <a:t>GitHub Reposu Nedir? / Nasıl Açılır?</a:t>
            </a:r>
            <a:endParaRPr>
              <a:solidFill>
                <a:srgbClr val="FF0000"/>
              </a:solidFill>
            </a:endParaRPr>
          </a:p>
        </p:txBody>
      </p:sp>
      <p:sp>
        <p:nvSpPr>
          <p:cNvPr id="68" name="Google Shape;68;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69" name="Google Shape;69;p3" title="Ekran görüntüsü 2025-10-15 215428.png"/>
          <p:cNvPicPr preferRelativeResize="0"/>
          <p:nvPr/>
        </p:nvPicPr>
        <p:blipFill rotWithShape="1">
          <a:blip r:embed="rId3">
            <a:alphaModFix/>
          </a:blip>
          <a:srcRect b="0" l="0" r="0" t="0"/>
          <a:stretch/>
        </p:blipFill>
        <p:spPr>
          <a:xfrm>
            <a:off x="546025" y="1152475"/>
            <a:ext cx="5544325" cy="37359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75" name="Google Shape;75;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6" name="Google Shape;76;p4" title="Ekran görüntüsü 2025-10-15 215441.png"/>
          <p:cNvPicPr preferRelativeResize="0"/>
          <p:nvPr/>
        </p:nvPicPr>
        <p:blipFill rotWithShape="1">
          <a:blip r:embed="rId3">
            <a:alphaModFix/>
          </a:blip>
          <a:srcRect b="0" l="0" r="0" t="0"/>
          <a:stretch/>
        </p:blipFill>
        <p:spPr>
          <a:xfrm>
            <a:off x="603100" y="1090400"/>
            <a:ext cx="5390224" cy="37297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82" name="Google Shape;82;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3" name="Google Shape;83;p5" title="Ekran görüntüsü 2025-10-15 215846.png"/>
          <p:cNvPicPr preferRelativeResize="0"/>
          <p:nvPr/>
        </p:nvPicPr>
        <p:blipFill rotWithShape="1">
          <a:blip r:embed="rId3">
            <a:alphaModFix/>
          </a:blip>
          <a:srcRect b="0" l="0" r="0" t="0"/>
          <a:stretch/>
        </p:blipFill>
        <p:spPr>
          <a:xfrm>
            <a:off x="493375" y="1079175"/>
            <a:ext cx="5669724" cy="4082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89" name="Google Shape;89;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0" name="Google Shape;90;p6" title="Ekran görüntüsü 2025-10-15 215901.png"/>
          <p:cNvPicPr preferRelativeResize="0"/>
          <p:nvPr/>
        </p:nvPicPr>
        <p:blipFill rotWithShape="1">
          <a:blip r:embed="rId3">
            <a:alphaModFix/>
          </a:blip>
          <a:srcRect b="0" l="0" r="0" t="0"/>
          <a:stretch/>
        </p:blipFill>
        <p:spPr>
          <a:xfrm>
            <a:off x="408725" y="1081300"/>
            <a:ext cx="5705875" cy="39530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96" name="Google Shape;96;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97" name="Google Shape;97;p7" title="Ekran görüntüsü 2025-10-15 220047.png"/>
          <p:cNvPicPr preferRelativeResize="0"/>
          <p:nvPr/>
        </p:nvPicPr>
        <p:blipFill rotWithShape="1">
          <a:blip r:embed="rId3">
            <a:alphaModFix/>
          </a:blip>
          <a:srcRect b="0" l="0" r="0" t="0"/>
          <a:stretch/>
        </p:blipFill>
        <p:spPr>
          <a:xfrm>
            <a:off x="458300" y="1017725"/>
            <a:ext cx="5419377" cy="3632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103" name="Google Shape;103;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4" name="Google Shape;104;p8" title="Ekran görüntüsü 2025-10-15 220736.png"/>
          <p:cNvPicPr preferRelativeResize="0"/>
          <p:nvPr/>
        </p:nvPicPr>
        <p:blipFill rotWithShape="1">
          <a:blip r:embed="rId3">
            <a:alphaModFix/>
          </a:blip>
          <a:srcRect b="0" l="0" r="0" t="0"/>
          <a:stretch/>
        </p:blipFill>
        <p:spPr>
          <a:xfrm>
            <a:off x="220725" y="1152474"/>
            <a:ext cx="8292648" cy="4004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GitHub Reposu Nedir? / Nasıl Açılır?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110" name="Google Shape;110;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11" name="Google Shape;111;p9" title="Ekran görüntüsü 2025-10-15 220811.png"/>
          <p:cNvPicPr preferRelativeResize="0"/>
          <p:nvPr/>
        </p:nvPicPr>
        <p:blipFill rotWithShape="1">
          <a:blip r:embed="rId3">
            <a:alphaModFix/>
          </a:blip>
          <a:srcRect b="0" l="0" r="0" t="0"/>
          <a:stretch/>
        </p:blipFill>
        <p:spPr>
          <a:xfrm>
            <a:off x="311700" y="1017725"/>
            <a:ext cx="5675475" cy="4075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tr">
                <a:solidFill>
                  <a:srgbClr val="FF0000"/>
                </a:solidFill>
              </a:rPr>
              <a:t>Jupyter Notebook Nedir?</a:t>
            </a:r>
            <a:endParaRPr>
              <a:solidFill>
                <a:srgbClr val="FF0000"/>
              </a:solidFill>
            </a:endParaRPr>
          </a:p>
        </p:txBody>
      </p:sp>
      <p:sp>
        <p:nvSpPr>
          <p:cNvPr id="117" name="Google Shape;117;p10"/>
          <p:cNvSpPr txBox="1"/>
          <p:nvPr>
            <p:ph idx="1" type="body"/>
          </p:nvPr>
        </p:nvSpPr>
        <p:spPr>
          <a:xfrm>
            <a:off x="311700" y="1152475"/>
            <a:ext cx="8520600" cy="366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800"/>
              <a:buNone/>
            </a:pPr>
            <a:r>
              <a:rPr lang="tr">
                <a:solidFill>
                  <a:srgbClr val="666666"/>
                </a:solidFill>
              </a:rPr>
              <a:t>Jupyter Notebook, içerisinde canlı kod, denklemler, görselleştirmeler (grafikler, tablolar) ve açıklayıcı metinleri bir araya getirebildiğimiz, web tarayıcısı üzerinden çalışan bir programlama ortamıdır. Adını desteklediği üç ana programlama dilinden alır: </a:t>
            </a:r>
            <a:r>
              <a:rPr b="1" lang="tr">
                <a:solidFill>
                  <a:srgbClr val="666666"/>
                </a:solidFill>
              </a:rPr>
              <a:t>Ju</a:t>
            </a:r>
            <a:r>
              <a:rPr lang="tr">
                <a:solidFill>
                  <a:srgbClr val="666666"/>
                </a:solidFill>
              </a:rPr>
              <a:t>lia, </a:t>
            </a:r>
            <a:r>
              <a:rPr b="1" lang="tr">
                <a:solidFill>
                  <a:srgbClr val="666666"/>
                </a:solidFill>
              </a:rPr>
              <a:t>Py</a:t>
            </a:r>
            <a:r>
              <a:rPr lang="tr">
                <a:solidFill>
                  <a:srgbClr val="666666"/>
                </a:solidFill>
              </a:rPr>
              <a:t>thon ve </a:t>
            </a:r>
            <a:r>
              <a:rPr b="1" lang="tr">
                <a:solidFill>
                  <a:srgbClr val="666666"/>
                </a:solidFill>
              </a:rPr>
              <a:t>R</a:t>
            </a:r>
            <a:r>
              <a:rPr lang="tr">
                <a:solidFill>
                  <a:srgbClr val="666666"/>
                </a:solidFill>
              </a:rPr>
              <a:t>. Ancak günümüzde 40'tan fazla programlama dilini desteklemektedir.</a:t>
            </a:r>
            <a:endParaRPr>
              <a:solidFill>
                <a:srgbClr val="666666"/>
              </a:solidFill>
            </a:endParaRPr>
          </a:p>
          <a:p>
            <a:pPr indent="0" lvl="0" marL="0" rtl="0" algn="l">
              <a:lnSpc>
                <a:spcPct val="115000"/>
              </a:lnSpc>
              <a:spcBef>
                <a:spcPts val="1200"/>
              </a:spcBef>
              <a:spcAft>
                <a:spcPts val="0"/>
              </a:spcAft>
              <a:buSzPts val="1800"/>
              <a:buNone/>
            </a:pPr>
            <a:r>
              <a:rPr lang="tr">
                <a:solidFill>
                  <a:srgbClr val="666666"/>
                </a:solidFill>
              </a:rPr>
              <a:t> </a:t>
            </a:r>
            <a:r>
              <a:rPr b="1" lang="tr">
                <a:solidFill>
                  <a:srgbClr val="666666"/>
                </a:solidFill>
              </a:rPr>
              <a:t>Özetle Jupyter Notebook:</a:t>
            </a:r>
            <a:endParaRPr b="1">
              <a:solidFill>
                <a:srgbClr val="666666"/>
              </a:solidFill>
            </a:endParaRPr>
          </a:p>
          <a:p>
            <a:pPr indent="-342900" lvl="0" marL="457200" rtl="0" algn="l">
              <a:lnSpc>
                <a:spcPct val="115000"/>
              </a:lnSpc>
              <a:spcBef>
                <a:spcPts val="1200"/>
              </a:spcBef>
              <a:spcAft>
                <a:spcPts val="0"/>
              </a:spcAft>
              <a:buClr>
                <a:srgbClr val="666666"/>
              </a:buClr>
              <a:buSzPts val="1800"/>
              <a:buChar char="●"/>
            </a:pPr>
            <a:r>
              <a:rPr lang="tr">
                <a:solidFill>
                  <a:srgbClr val="666666"/>
                </a:solidFill>
              </a:rPr>
              <a:t>Hem kod yazıp çalıştırabildiğimiz,</a:t>
            </a:r>
            <a:endParaRPr>
              <a:solidFill>
                <a:srgbClr val="666666"/>
              </a:solidFill>
            </a:endParaRPr>
          </a:p>
          <a:p>
            <a:pPr indent="-342900" lvl="0" marL="457200" rtl="0" algn="l">
              <a:lnSpc>
                <a:spcPct val="115000"/>
              </a:lnSpc>
              <a:spcBef>
                <a:spcPts val="0"/>
              </a:spcBef>
              <a:spcAft>
                <a:spcPts val="0"/>
              </a:spcAft>
              <a:buClr>
                <a:srgbClr val="666666"/>
              </a:buClr>
              <a:buSzPts val="1800"/>
              <a:buChar char="●"/>
            </a:pPr>
            <a:r>
              <a:rPr lang="tr">
                <a:solidFill>
                  <a:srgbClr val="666666"/>
                </a:solidFill>
              </a:rPr>
              <a:t>Hem de "Markdown" diliyle notlar alabildiğiniz, başlıklar atabildiğiniz,</a:t>
            </a:r>
            <a:endParaRPr>
              <a:solidFill>
                <a:srgbClr val="666666"/>
              </a:solidFill>
            </a:endParaRPr>
          </a:p>
          <a:p>
            <a:pPr indent="-342900" lvl="0" marL="457200" rtl="0" algn="l">
              <a:lnSpc>
                <a:spcPct val="115000"/>
              </a:lnSpc>
              <a:spcBef>
                <a:spcPts val="0"/>
              </a:spcBef>
              <a:spcAft>
                <a:spcPts val="0"/>
              </a:spcAft>
              <a:buClr>
                <a:srgbClr val="666666"/>
              </a:buClr>
              <a:buSzPts val="1800"/>
              <a:buChar char="●"/>
            </a:pPr>
            <a:r>
              <a:rPr lang="tr">
                <a:solidFill>
                  <a:srgbClr val="666666"/>
                </a:solidFill>
              </a:rPr>
              <a:t>Hem de kodunuzun ürettiği grafikleri, tabloları anında görüntüleyebildiğiöiz interaktif bir not defteridir.</a:t>
            </a:r>
            <a:endParaRPr>
              <a:solidFill>
                <a:srgbClr val="666666"/>
              </a:solidFill>
            </a:endParaRPr>
          </a:p>
          <a:p>
            <a:pPr indent="0" lvl="0" marL="0" rtl="0" algn="l">
              <a:lnSpc>
                <a:spcPct val="115000"/>
              </a:lnSpc>
              <a:spcBef>
                <a:spcPts val="1200"/>
              </a:spcBef>
              <a:spcAft>
                <a:spcPts val="0"/>
              </a:spcAft>
              <a:buSzPts val="1800"/>
              <a:buNone/>
            </a:pPr>
            <a:r>
              <a:rPr lang="tr">
                <a:solidFill>
                  <a:srgbClr val="999999"/>
                </a:solidFill>
              </a:rPr>
              <a:t>  </a:t>
            </a:r>
            <a:endParaRPr>
              <a:solidFill>
                <a:srgbClr val="999999"/>
              </a:solidFill>
            </a:endParaRPr>
          </a:p>
          <a:p>
            <a:pPr indent="0" lvl="0" marL="0" rtl="0" algn="l">
              <a:lnSpc>
                <a:spcPct val="115000"/>
              </a:lnSpc>
              <a:spcBef>
                <a:spcPts val="1200"/>
              </a:spcBef>
              <a:spcAft>
                <a:spcPts val="1200"/>
              </a:spcAft>
              <a:buSzPts val="1800"/>
              <a:buNone/>
            </a:pPr>
            <a:r>
              <a:t/>
            </a:r>
            <a:endParaRPr>
              <a:solidFill>
                <a:srgbClr val="99999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Jupyter Notebook Nasıl Kullanılır?</a:t>
            </a:r>
            <a:endParaRPr>
              <a:solidFill>
                <a:srgbClr val="FF0000"/>
              </a:solidFill>
            </a:endParaRPr>
          </a:p>
          <a:p>
            <a:pPr indent="0" lvl="0" marL="0" rtl="0" algn="l">
              <a:lnSpc>
                <a:spcPct val="100000"/>
              </a:lnSpc>
              <a:spcBef>
                <a:spcPts val="0"/>
              </a:spcBef>
              <a:spcAft>
                <a:spcPts val="0"/>
              </a:spcAft>
              <a:buSzPct val="111111"/>
              <a:buNone/>
            </a:pPr>
            <a:r>
              <a:t/>
            </a:r>
            <a:endParaRPr/>
          </a:p>
        </p:txBody>
      </p:sp>
      <p:sp>
        <p:nvSpPr>
          <p:cNvPr id="123" name="Google Shape;123;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24" name="Google Shape;124;p11" title="Ekran görüntüsü 2025-10-15 222939.png"/>
          <p:cNvPicPr preferRelativeResize="0"/>
          <p:nvPr/>
        </p:nvPicPr>
        <p:blipFill rotWithShape="1">
          <a:blip r:embed="rId3">
            <a:alphaModFix/>
          </a:blip>
          <a:srcRect b="0" l="0" r="0" t="0"/>
          <a:stretch/>
        </p:blipFill>
        <p:spPr>
          <a:xfrm>
            <a:off x="311700" y="1072050"/>
            <a:ext cx="7460600" cy="389702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Jupyter Notebook Nasıl Kullanılır?</a:t>
            </a:r>
            <a:endParaRPr>
              <a:solidFill>
                <a:srgbClr val="FF0000"/>
              </a:solidFill>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130" name="Google Shape;130;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1" name="Google Shape;131;p12" title="Ekran görüntüsü 2025-10-15 223626.png"/>
          <p:cNvPicPr preferRelativeResize="0"/>
          <p:nvPr/>
        </p:nvPicPr>
        <p:blipFill rotWithShape="1">
          <a:blip r:embed="rId3">
            <a:alphaModFix/>
          </a:blip>
          <a:srcRect b="0" l="0" r="0" t="0"/>
          <a:stretch/>
        </p:blipFill>
        <p:spPr>
          <a:xfrm>
            <a:off x="361525" y="1017725"/>
            <a:ext cx="7626274" cy="38090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39285"/>
              <a:buFont typeface="Arial"/>
              <a:buNone/>
            </a:pPr>
            <a:r>
              <a:rPr lang="tr">
                <a:solidFill>
                  <a:srgbClr val="FF0000"/>
                </a:solidFill>
              </a:rPr>
              <a:t>Jupyter Notebook Nasıl Kullanılır?</a:t>
            </a:r>
            <a:endParaRPr>
              <a:solidFill>
                <a:srgbClr val="FF0000"/>
              </a:solidFill>
            </a:endParaRPr>
          </a:p>
          <a:p>
            <a:pPr indent="0" lvl="0" marL="0" rtl="0" algn="l">
              <a:lnSpc>
                <a:spcPct val="100000"/>
              </a:lnSpc>
              <a:spcBef>
                <a:spcPts val="0"/>
              </a:spcBef>
              <a:spcAft>
                <a:spcPts val="0"/>
              </a:spcAft>
              <a:buClr>
                <a:schemeClr val="dk1"/>
              </a:buClr>
              <a:buSzPct val="39285"/>
              <a:buFont typeface="Arial"/>
              <a:buNone/>
            </a:pPr>
            <a:r>
              <a:t/>
            </a:r>
            <a:endParaRPr/>
          </a:p>
          <a:p>
            <a:pPr indent="0" lvl="0" marL="0" rtl="0" algn="l">
              <a:lnSpc>
                <a:spcPct val="100000"/>
              </a:lnSpc>
              <a:spcBef>
                <a:spcPts val="0"/>
              </a:spcBef>
              <a:spcAft>
                <a:spcPts val="0"/>
              </a:spcAft>
              <a:buSzPct val="111111"/>
              <a:buNone/>
            </a:pPr>
            <a:r>
              <a:t/>
            </a:r>
            <a:endParaRPr/>
          </a:p>
        </p:txBody>
      </p:sp>
      <p:sp>
        <p:nvSpPr>
          <p:cNvPr id="137" name="Google Shape;137;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38" name="Google Shape;138;p13" title="1_iIzQfqPYGyGg_6oCkuj5dg.png"/>
          <p:cNvPicPr preferRelativeResize="0"/>
          <p:nvPr/>
        </p:nvPicPr>
        <p:blipFill rotWithShape="1">
          <a:blip r:embed="rId3">
            <a:alphaModFix/>
          </a:blip>
          <a:srcRect b="0" l="0" r="0" t="0"/>
          <a:stretch/>
        </p:blipFill>
        <p:spPr>
          <a:xfrm>
            <a:off x="420975" y="1152475"/>
            <a:ext cx="7725900" cy="3736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tr">
                <a:solidFill>
                  <a:srgbClr val="FF0000"/>
                </a:solidFill>
              </a:rPr>
              <a:t>Proje Konusu</a:t>
            </a:r>
            <a:endParaRPr/>
          </a:p>
        </p:txBody>
      </p:sp>
      <p:sp>
        <p:nvSpPr>
          <p:cNvPr id="144" name="Google Shape;144;p14"/>
          <p:cNvSpPr txBox="1"/>
          <p:nvPr>
            <p:ph idx="1" type="body"/>
          </p:nvPr>
        </p:nvSpPr>
        <p:spPr>
          <a:xfrm>
            <a:off x="269275" y="11312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tr"/>
              <a:t>Problem; İnsanların erişim sağlayıp ürün seçebildiği, alışveriş yapabildiği bir sitede kullanıcıya yansıyan hatalar. </a:t>
            </a:r>
            <a:endParaRPr/>
          </a:p>
          <a:p>
            <a:pPr indent="0" lvl="0" marL="0" rtl="0" algn="l">
              <a:lnSpc>
                <a:spcPct val="115000"/>
              </a:lnSpc>
              <a:spcBef>
                <a:spcPts val="1200"/>
              </a:spcBef>
              <a:spcAft>
                <a:spcPts val="0"/>
              </a:spcAft>
              <a:buSzPts val="1800"/>
              <a:buNone/>
            </a:pPr>
            <a:r>
              <a:rPr lang="tr"/>
              <a:t>Örnek; Sepete eklenmeme, Filtrelemenin yanlış olması.</a:t>
            </a:r>
            <a:endParaRPr/>
          </a:p>
          <a:p>
            <a:pPr indent="0" lvl="0" marL="0" rtl="0" algn="l">
              <a:lnSpc>
                <a:spcPct val="115000"/>
              </a:lnSpc>
              <a:spcBef>
                <a:spcPts val="1200"/>
              </a:spcBef>
              <a:spcAft>
                <a:spcPts val="1200"/>
              </a:spcAft>
              <a:buSzPts val="1800"/>
              <a:buNone/>
            </a:pPr>
            <a:r>
              <a:rPr lang="tr"/>
              <a:t>Çözüm; Kontrolü bir test otomasyonu ile sağlama ve hızlı rapor oluşturarak sorunu düzeltme.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